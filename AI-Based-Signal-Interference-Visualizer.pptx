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Krona One"/>
      <p:regular r:id="rId201314"/>
    </p:embeddedFont>
    <p:embeddedFont>
      <p:font typeface="Lexend"/>
      <p:regular r:id="rId201315"/>
    </p:embeddedFont>
    <p:embeddedFont>
      <p:font typeface="Lexend Medium"/>
      <p:regular r:id="rId201316"/>
    </p:embeddedFont>
    <p:embeddedFont>
      <p:font typeface="Lexend Bold"/>
      <p:regular r:id="rId201317"/>
    </p:embeddedFont>
    <p:embeddedFont>
      <p:font typeface="Martian Mono Medium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 as a proposed educational simulation that makes changing signal quality visible, measurable, and easier to discuss.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problem as a signal path: the receiver sees the result of both the intended signal and the disturbances introduced along the channel.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the gap between knowing the formula and seeing the effect. The visual comparison is illustrative, not an experimental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Clarify the scope. The contribution is the integrated learning experience and visualization, while the underlying signal-processing methods remain established concepts.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from the received-signal model to the two power calculations and then to SNR. Fourier analysis adds a frequency-domain view when implemented correctly.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the architecture as a connected pipeline. Each control change should flow through simulation, measurement, classification, and visual refresh.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that every classification is derived from generated samples and stated rules. SINR is optional and assumption-dependent; it should not be presented as a universal measurement without defining the unwanted components.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proposed dashboard mockup. The implementation and demonstration results remain to be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Separate what the project can support immediately from future extensions. The AI label is conditional: genuine AI classification requires a trained model and labeled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returning to the central promise: the visualizer links signal behavior, measurable quality, and engineering interpretation in one learning environment.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3" Type="http://schemas.openxmlformats.org/officeDocument/2006/relationships/image" Target="../media/image-1002-3.png"/><Relationship Id="rId5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3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1515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2" descr="preencoded.png">
            <a:hlinkClick r:id="rId4" tooltip="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1515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7380" y="906145"/>
            <a:ext cx="6426039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78" kern="100" dirty="0">
                <a:solidFill>
                  <a:srgbClr val="FFFF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ELECTRONICS AND COMMUNICATION ENGINEERING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87380" y="1255381"/>
            <a:ext cx="5816454" cy="2523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600" spc="-46" kern="100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AI-Based Signal</a:t>
            </a:r>
            <a:endParaRPr lang="en-US" sz="46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4600" spc="-46" kern="100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Interference Visualizer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787380" y="4047649"/>
            <a:ext cx="5816454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Interactive Signal Quality Analysis Using Digital Signal Processing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87380" y="5138539"/>
            <a:ext cx="5816454" cy="1470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spcAft>
                <a:spcPts val="2100"/>
              </a:spcAft>
              <a:buNone/>
            </a:pPr>
            <a:r>
              <a:rPr lang="en-US" sz="1400" spc="14" kern="10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Mini-project presentation · Electronics and Communication Engineering</a:t>
            </a:r>
            <a:endParaRPr lang="en-US" sz="1400" dirty="0"/>
          </a:p>
          <a:p>
            <a:pPr algn="l" indent="0" marL="0">
              <a:lnSpc>
                <a:spcPct val="108000"/>
              </a:lnSpc>
              <a:spcAft>
                <a:spcPts val="2100"/>
              </a:spcAft>
              <a:buNone/>
            </a:pPr>
            <a:r>
              <a:rPr lang="en-US" sz="1400" spc="14" kern="10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Presented by: [Student Name] · Roll Number: [Roll Number]</a:t>
            </a:r>
            <a:endParaRPr lang="en-US" sz="14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400" spc="14" kern="10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Institution: [College Name] · Guided by: [Faculty Name]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6745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78" kern="100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THE SIGNAL PATH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46375"/>
            <a:ext cx="10972526" cy="817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800" spc="-14" kern="100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Communication signals are shaped by noise and interference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9585" y="2062282"/>
            <a:ext cx="10972526" cy="1234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Communication systems transmit information using electrical or electromagnetic signals. Noise and interference can enter during transmission and reduce received-signal quality.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09585" y="3558282"/>
            <a:ext cx="3454314" cy="3543796"/>
          </a:xfrm>
          <a:prstGeom prst="roundRect">
            <a:avLst>
              <a:gd name="adj" fmla="val 4412"/>
            </a:avLst>
          </a:prstGeom>
          <a:solidFill>
            <a:srgbClr val="1E1F66"/>
          </a:solidFill>
          <a:ln w="19050">
            <a:solidFill>
              <a:srgbClr val="2878FF"/>
            </a:solidFill>
            <a:prstDash val="solid"/>
          </a:ln>
          <a:effectLst>
            <a:outerShdw sx="100000" sy="100000" kx="0" ky="0" algn="bl" rotWithShape="0" blurRad="201930" dist="127" dir="16200000">
              <a:srgbClr val="2878ff">
                <a:alpha val="4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29" y="3805932"/>
            <a:ext cx="609585" cy="609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57229" y="4608572"/>
            <a:ext cx="2959026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spc="-12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Transmitter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857229" y="5220018"/>
            <a:ext cx="2959026" cy="1234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Creates the desired communication signal.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4368691" y="3558282"/>
            <a:ext cx="3454314" cy="3543796"/>
          </a:xfrm>
          <a:prstGeom prst="roundRect">
            <a:avLst>
              <a:gd name="adj" fmla="val 4412"/>
            </a:avLst>
          </a:prstGeom>
          <a:solidFill>
            <a:srgbClr val="1E1F66"/>
          </a:solidFill>
          <a:ln w="19050">
            <a:solidFill>
              <a:srgbClr val="2878FF"/>
            </a:solidFill>
            <a:prstDash val="solid"/>
          </a:ln>
          <a:effectLst>
            <a:outerShdw sx="100000" sy="100000" kx="0" ky="0" algn="bl" rotWithShape="0" blurRad="201930" dist="127" dir="16200000">
              <a:srgbClr val="2878ff">
                <a:alpha val="4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6335" y="3805932"/>
            <a:ext cx="609585" cy="609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16335" y="4608572"/>
            <a:ext cx="2959026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spc="-12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Noisy channel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4616335" y="5220018"/>
            <a:ext cx="2959026" cy="1645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Random noise and unwanted interference enter the path.</a:t>
            </a:r>
            <a:endParaRPr lang="en-US" sz="2400" dirty="0"/>
          </a:p>
        </p:txBody>
      </p:sp>
      <p:sp>
        <p:nvSpPr>
          <p:cNvPr id="13" name="Shape 9"/>
          <p:cNvSpPr/>
          <p:nvPr/>
        </p:nvSpPr>
        <p:spPr>
          <a:xfrm>
            <a:off x="8127797" y="3558282"/>
            <a:ext cx="3454314" cy="3543796"/>
          </a:xfrm>
          <a:prstGeom prst="roundRect">
            <a:avLst>
              <a:gd name="adj" fmla="val 4412"/>
            </a:avLst>
          </a:prstGeom>
          <a:solidFill>
            <a:srgbClr val="1E1F66"/>
          </a:solidFill>
          <a:ln w="19050">
            <a:solidFill>
              <a:srgbClr val="2878FF"/>
            </a:solidFill>
            <a:prstDash val="solid"/>
          </a:ln>
          <a:effectLst>
            <a:outerShdw sx="100000" sy="100000" kx="0" ky="0" algn="bl" rotWithShape="0" blurRad="201930" dist="127" dir="16200000">
              <a:srgbClr val="2878ff">
                <a:alpha val="40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5440" y="3805932"/>
            <a:ext cx="609585" cy="6096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375440" y="4608572"/>
            <a:ext cx="2959026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spc="-12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Receiver</a:t>
            </a:r>
            <a:endParaRPr lang="en-US" sz="2400" dirty="0"/>
          </a:p>
        </p:txBody>
      </p:sp>
      <p:sp>
        <p:nvSpPr>
          <p:cNvPr id="16" name="Text 11"/>
          <p:cNvSpPr/>
          <p:nvPr/>
        </p:nvSpPr>
        <p:spPr>
          <a:xfrm>
            <a:off x="8375440" y="5220018"/>
            <a:ext cx="2959026" cy="1234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Receives a changed signal that must be analyzed.</a:t>
            </a:r>
            <a:endParaRPr lang="en-US" sz="2400" dirty="0"/>
          </a:p>
        </p:txBody>
      </p:sp>
      <p:sp>
        <p:nvSpPr>
          <p:cNvPr id="17" name="Text 12"/>
          <p:cNvSpPr/>
          <p:nvPr/>
        </p:nvSpPr>
        <p:spPr>
          <a:xfrm>
            <a:off x="609585" y="7384018"/>
            <a:ext cx="5257668" cy="462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spc="14" kern="100" dirty="0">
                <a:solidFill>
                  <a:srgbClr val="B9BEEA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Digital Signal Processing helps analyze signal behavior mathematically.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324442" y="7386558"/>
            <a:ext cx="5257668" cy="1645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b="1" dirty="0">
                <a:solidFill>
                  <a:srgbClr val="FF9347"/>
                </a:solidFill>
                <a:latin typeface="Lexend Bold" pitchFamily="34" charset="0"/>
                <a:ea typeface="Lexend Bold" pitchFamily="34" charset="-122"/>
                <a:cs typeface="Lexend Bold" pitchFamily="34" charset="-120"/>
              </a:rPr>
              <a:t>PROJECT PROPOSITION</a:t>
            </a:r>
            <a:endParaRPr lang="en-US" sz="240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2400" dirty="0">
                <a:solidFill>
                  <a:srgbClr val="FF9347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This project proposes an interactive visual tool for understanding signal degradation.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6745"/>
            <a:ext cx="3497572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78" kern="100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THE LEARNING GAP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46375"/>
            <a:ext cx="2887987" cy="2862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800" spc="-14" kern="100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Static theory makes changing signal quality hard to see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9585" y="4106684"/>
            <a:ext cx="2887987" cy="3291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Noise and interference distort a desired signal, but a static graph cannot show the immediate effect of changing the disturbance level.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09585" y="7659985"/>
            <a:ext cx="2887987" cy="673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487680" indent="-487680">
              <a:lnSpc>
                <a:spcPct val="113000"/>
              </a:lnSpc>
              <a:buSzPct val="100000"/>
              <a:buChar char="•"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Students may find degradation difficult to visualize from theory alone.</a:t>
            </a:r>
            <a:endParaRPr lang="en-US" sz="2400" dirty="0"/>
          </a:p>
          <a:p>
            <a:pPr algn="l" marL="487680" indent="-487680">
              <a:lnSpc>
                <a:spcPct val="113000"/>
              </a:lnSpc>
              <a:buSzPct val="100000"/>
              <a:buChar char="•"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Manual signal-quality calculations can be time-consuming.</a:t>
            </a:r>
            <a:endParaRPr lang="en-US" sz="2400" dirty="0"/>
          </a:p>
          <a:p>
            <a:pPr algn="l" marL="487680" indent="-487680">
              <a:lnSpc>
                <a:spcPct val="113000"/>
              </a:lnSpc>
              <a:buSzPct val="100000"/>
              <a:buChar char="•"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Changing a parameter should produce an immediate visual response.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64246" y="0"/>
            <a:ext cx="7627449" cy="15005348"/>
          </a:xfrm>
          <a:prstGeom prst="roundRect">
            <a:avLst>
              <a:gd name="adj" fmla="val 1998"/>
            </a:avLst>
          </a:prstGeom>
          <a:solidFill>
            <a:srgbClr val="1E1F66"/>
          </a:solidFill>
          <a:ln w="19050">
            <a:solidFill>
              <a:srgbClr val="2878FF"/>
            </a:solidFill>
            <a:prstDash val="solid"/>
          </a:ln>
          <a:effectLst>
            <a:outerShdw sx="100000" sy="100000" kx="0" ky="0" algn="bl" rotWithShape="0" blurRad="201930" dist="127" dir="16200000">
              <a:srgbClr val="2878ff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92880" y="645795"/>
            <a:ext cx="6370180" cy="396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78" kern="100" dirty="0">
                <a:solidFill>
                  <a:srgbClr val="E6E9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ILLUSTRATIVE COMPARISON · TO BE VERIFIED IN IMPLEMENTATION</a:t>
            </a:r>
            <a:endParaRPr lang="en-US" sz="13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92880" y="1297781"/>
            <a:ext cx="6143471" cy="34290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192880" y="4859496"/>
            <a:ext cx="6370180" cy="693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spc="14" kern="1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The proposed dashboard generates a clean signal, adds adjustable simulated disturbances, displays both waveforms, calculates metrics, and classifies simulated conditions.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6745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78" kern="100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PROJECT PURPOSE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46375"/>
            <a:ext cx="10972526" cy="817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800" spc="-14" kern="100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An integrated educational simulation connects controls, metrics, and visuals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09585" y="2050852"/>
            <a:ext cx="10972526" cy="4143177"/>
          </a:xfrm>
          <a:prstGeom prst="roundRect">
            <a:avLst>
              <a:gd name="adj" fmla="val 3678"/>
            </a:avLst>
          </a:prstGeom>
          <a:solidFill>
            <a:srgbClr val="1E1F66"/>
          </a:solidFill>
          <a:ln w="19050">
            <a:solidFill>
              <a:srgbClr val="2878FF"/>
            </a:solidFill>
            <a:prstDash val="solid"/>
          </a:ln>
          <a:effectLst>
            <a:outerShdw sx="100000" sy="100000" kx="0" ky="0" algn="bl" rotWithShape="0" blurRad="201930" dist="127" dir="16200000">
              <a:srgbClr val="2878ff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57229" y="2313742"/>
            <a:ext cx="10477238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spc="-12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Objectives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57229" y="2913757"/>
            <a:ext cx="5086223" cy="30326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487680" indent="-487680">
              <a:lnSpc>
                <a:spcPct val="113000"/>
              </a:lnSpc>
              <a:buSzPct val="100000"/>
              <a:buChar char="•"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Generate a clean reference signal.</a:t>
            </a:r>
            <a:endParaRPr lang="en-US" sz="2400" dirty="0"/>
          </a:p>
          <a:p>
            <a:pPr algn="l" marL="487680" indent="-487680">
              <a:lnSpc>
                <a:spcPct val="113000"/>
              </a:lnSpc>
              <a:buSzPct val="100000"/>
              <a:buChar char="•"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Simulate adjustable random noise and sinusoidal interference.</a:t>
            </a:r>
            <a:endParaRPr lang="en-US" sz="2400" dirty="0"/>
          </a:p>
          <a:p>
            <a:pPr algn="l" marL="487680" indent="-487680">
              <a:lnSpc>
                <a:spcPct val="113000"/>
              </a:lnSpc>
              <a:buSzPct val="100000"/>
              <a:buChar char="•"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Visualize original and received signals interactively.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248244" y="2913757"/>
            <a:ext cx="5086223" cy="30326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487680" indent="-487680">
              <a:lnSpc>
                <a:spcPct val="113000"/>
              </a:lnSpc>
              <a:buSzPct val="100000"/>
              <a:buChar char="•"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Calculate signal power, noise power, and SNR.</a:t>
            </a:r>
            <a:endParaRPr lang="en-US" sz="2400" dirty="0"/>
          </a:p>
          <a:p>
            <a:pPr algn="l" marL="487680" indent="-487680">
              <a:lnSpc>
                <a:spcPct val="113000"/>
              </a:lnSpc>
              <a:buSzPct val="100000"/>
              <a:buChar char="•"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Display quality classifications from transparent calculated thresholds.</a:t>
            </a:r>
            <a:endParaRPr lang="en-US" sz="2400" dirty="0"/>
          </a:p>
          <a:p>
            <a:pPr algn="l" marL="487680" indent="-487680">
              <a:lnSpc>
                <a:spcPct val="113000"/>
              </a:lnSpc>
              <a:buSzPct val="100000"/>
              <a:buChar char="•"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Demonstrate Fourier analysis where implemented.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09585" y="6498828"/>
            <a:ext cx="10972526" cy="3141166"/>
          </a:xfrm>
          <a:prstGeom prst="roundRect">
            <a:avLst>
              <a:gd name="adj" fmla="val 4852"/>
            </a:avLst>
          </a:prstGeom>
          <a:solidFill>
            <a:srgbClr val="1E1F66"/>
          </a:solidFill>
          <a:ln w="19050">
            <a:solidFill>
              <a:srgbClr val="FF9347"/>
            </a:solidFill>
            <a:prstDash val="solid"/>
          </a:ln>
          <a:effectLst>
            <a:outerShdw sx="100000" sy="100000" kx="0" ky="0" algn="bl" rotWithShape="0" blurRad="201930" dist="127" dir="16200000">
              <a:srgbClr val="ff9347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57229" y="6761718"/>
            <a:ext cx="10477238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spc="-12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Proposed innovation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57229" y="7373164"/>
            <a:ext cx="5086223" cy="1234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Interactive parameter adjustment and immediate waveform comparison.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248244" y="7373164"/>
            <a:ext cx="5086223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Automatic signal-quality metrics in a beginner-friendly dashboard.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857229" y="8850114"/>
            <a:ext cx="3457489" cy="57150"/>
          </a:xfrm>
          <a:prstGeom prst="roundRect">
            <a:avLst>
              <a:gd name="adj" fmla="val 49999"/>
            </a:avLst>
          </a:prstGeom>
          <a:solidFill>
            <a:srgbClr val="2878FF"/>
          </a:solidFill>
          <a:ln/>
        </p:spPr>
      </p:sp>
      <p:sp>
        <p:nvSpPr>
          <p:cNvPr id="13" name="Text 11"/>
          <p:cNvSpPr/>
          <p:nvPr/>
        </p:nvSpPr>
        <p:spPr>
          <a:xfrm>
            <a:off x="857229" y="9170154"/>
            <a:ext cx="10724882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spc="14" kern="1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Positioning: an integrated educational simulation—not a claim that the underlying DSP algorithms are new.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6745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78" kern="100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CORE CONCEPTS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46375"/>
            <a:ext cx="10972526" cy="817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800" spc="-14" kern="100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Core ECE concepts turn waveform changes into measurable quantities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9585" y="3425627"/>
            <a:ext cx="5430404" cy="56537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487680" indent="-487680">
              <a:lnSpc>
                <a:spcPct val="113000"/>
              </a:lnSpc>
              <a:buSzPct val="100000"/>
              <a:buChar char="•"/>
            </a:pPr>
            <a:r>
              <a:rPr lang="en-US" sz="2400" b="1" dirty="0">
                <a:solidFill>
                  <a:srgbClr val="E6E9FF"/>
                </a:solidFill>
                <a:latin typeface="Lexend Bold" pitchFamily="34" charset="0"/>
                <a:ea typeface="Lexend Bold" pitchFamily="34" charset="-122"/>
                <a:cs typeface="Lexend Bold" pitchFamily="34" charset="-120"/>
              </a:rPr>
              <a:t>Signal:</a:t>
            </a:r>
            <a:pPr algn="l" marL="487680" indent="-487680">
              <a:lnSpc>
                <a:spcPct val="113000"/>
              </a:lnSpc>
              <a:buSzPct val="100000"/>
              <a:buChar char="•"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Information represented as a quantity varying with time.</a:t>
            </a:r>
            <a:endParaRPr lang="en-US" sz="2400" dirty="0"/>
          </a:p>
          <a:p>
            <a:pPr algn="l" marL="487680" indent="-487680">
              <a:lnSpc>
                <a:spcPct val="113000"/>
              </a:lnSpc>
              <a:buSzPct val="100000"/>
              <a:buChar char="•"/>
            </a:pPr>
            <a:r>
              <a:rPr lang="en-US" sz="2400" b="1" dirty="0">
                <a:solidFill>
                  <a:srgbClr val="E6E9FF"/>
                </a:solidFill>
                <a:latin typeface="Lexend Bold" pitchFamily="34" charset="0"/>
                <a:ea typeface="Lexend Bold" pitchFamily="34" charset="-122"/>
                <a:cs typeface="Lexend Bold" pitchFamily="34" charset="-120"/>
              </a:rPr>
              <a:t>Noise:</a:t>
            </a:r>
            <a:pPr algn="l" marL="487680" indent="-487680">
              <a:lnSpc>
                <a:spcPct val="113000"/>
              </a:lnSpc>
              <a:buSzPct val="100000"/>
              <a:buChar char="•"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Unwanted random disturbance added to the desired signal.</a:t>
            </a:r>
            <a:endParaRPr lang="en-US" sz="2400" dirty="0"/>
          </a:p>
          <a:p>
            <a:pPr algn="l" marL="487680" indent="-487680">
              <a:lnSpc>
                <a:spcPct val="113000"/>
              </a:lnSpc>
              <a:buSzPct val="100000"/>
              <a:buChar char="•"/>
            </a:pPr>
            <a:r>
              <a:rPr lang="en-US" sz="2400" b="1" dirty="0">
                <a:solidFill>
                  <a:srgbClr val="E6E9FF"/>
                </a:solidFill>
                <a:latin typeface="Lexend Bold" pitchFamily="34" charset="0"/>
                <a:ea typeface="Lexend Bold" pitchFamily="34" charset="-122"/>
                <a:cs typeface="Lexend Bold" pitchFamily="34" charset="-120"/>
              </a:rPr>
              <a:t>Interference:</a:t>
            </a:r>
            <a:pPr algn="l" marL="487680" indent="-487680">
              <a:lnSpc>
                <a:spcPct val="113000"/>
              </a:lnSpc>
              <a:buSzPct val="100000"/>
              <a:buChar char="•"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Unwanted signal or disturbance affecting the desired signal.</a:t>
            </a:r>
            <a:endParaRPr lang="en-US" sz="2400" dirty="0"/>
          </a:p>
          <a:p>
            <a:pPr algn="l" marL="487680" indent="-487680">
              <a:lnSpc>
                <a:spcPct val="113000"/>
              </a:lnSpc>
              <a:buSzPct val="100000"/>
              <a:buChar char="•"/>
            </a:pPr>
            <a:r>
              <a:rPr lang="en-US" sz="2400" b="1" dirty="0">
                <a:solidFill>
                  <a:srgbClr val="E6E9FF"/>
                </a:solidFill>
                <a:latin typeface="Lexend Bold" pitchFamily="34" charset="0"/>
                <a:ea typeface="Lexend Bold" pitchFamily="34" charset="-122"/>
                <a:cs typeface="Lexend Bold" pitchFamily="34" charset="-120"/>
              </a:rPr>
              <a:t>SNR:</a:t>
            </a:r>
            <a:pPr algn="l" marL="487680" indent="-487680">
              <a:lnSpc>
                <a:spcPct val="113000"/>
              </a:lnSpc>
              <a:buSzPct val="100000"/>
              <a:buChar char="•"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Desired signal power relative to noise power.</a:t>
            </a:r>
            <a:endParaRPr lang="en-US" sz="2400" dirty="0"/>
          </a:p>
          <a:p>
            <a:pPr algn="l" marL="487680" indent="-487680">
              <a:lnSpc>
                <a:spcPct val="113000"/>
              </a:lnSpc>
              <a:buSzPct val="100000"/>
              <a:buChar char="•"/>
            </a:pPr>
            <a:r>
              <a:rPr lang="en-US" sz="2400" b="1" dirty="0">
                <a:solidFill>
                  <a:srgbClr val="E6E9FF"/>
                </a:solidFill>
                <a:latin typeface="Lexend Bold" pitchFamily="34" charset="0"/>
                <a:ea typeface="Lexend Bold" pitchFamily="34" charset="-122"/>
                <a:cs typeface="Lexend Bold" pitchFamily="34" charset="-120"/>
              </a:rPr>
              <a:t>Fourier analysis:</a:t>
            </a:r>
            <a:pPr algn="l" marL="487680" indent="-487680">
              <a:lnSpc>
                <a:spcPct val="113000"/>
              </a:lnSpc>
              <a:buSzPct val="100000"/>
              <a:buChar char="•"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Examines frequency components present in a signal.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106663" y="2816027"/>
            <a:ext cx="5085032" cy="6905030"/>
          </a:xfrm>
          <a:prstGeom prst="roundRect">
            <a:avLst>
              <a:gd name="adj" fmla="val 2997"/>
            </a:avLst>
          </a:prstGeom>
          <a:solidFill>
            <a:srgbClr val="1E1F66"/>
          </a:solidFill>
          <a:ln w="19050">
            <a:solidFill>
              <a:srgbClr val="2878FF"/>
            </a:solidFill>
            <a:prstDash val="solid"/>
          </a:ln>
          <a:effectLst>
            <a:outerShdw sx="100000" sy="100000" kx="0" ky="0" algn="bl" rotWithShape="0" blurRad="201930" dist="127" dir="16200000">
              <a:srgbClr val="2878ff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35297" y="3461822"/>
            <a:ext cx="4437348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78" kern="100" dirty="0">
                <a:solidFill>
                  <a:srgbClr val="E6E9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MEASUREMENT MODEL</a:t>
            </a:r>
            <a:endParaRPr lang="en-US" sz="13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35297" y="3915767"/>
            <a:ext cx="3827764" cy="1046559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5297" y="5235377"/>
            <a:ext cx="3827764" cy="523280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5297" y="6031706"/>
            <a:ext cx="3827764" cy="523280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5297" y="6828036"/>
            <a:ext cx="3827764" cy="1046559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7735297" y="8223845"/>
            <a:ext cx="1263122" cy="57150"/>
          </a:xfrm>
          <a:prstGeom prst="roundRect">
            <a:avLst>
              <a:gd name="adj" fmla="val 49999"/>
            </a:avLst>
          </a:prstGeom>
          <a:solidFill>
            <a:srgbClr val="2878FF"/>
          </a:solidFill>
          <a:ln/>
        </p:spPr>
      </p:sp>
      <p:sp>
        <p:nvSpPr>
          <p:cNvPr id="12" name="Text 6"/>
          <p:cNvSpPr/>
          <p:nvPr/>
        </p:nvSpPr>
        <p:spPr>
          <a:xfrm>
            <a:off x="7735297" y="8639135"/>
            <a:ext cx="3827764" cy="462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spc="14" kern="1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x[n] = desired signal · n[n] = noise · i[n] = interference · N = number of samples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6745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78" kern="100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SYSTEM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46375"/>
            <a:ext cx="10972526" cy="817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800" spc="-14" kern="100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Proposed architecture flows from user controls to dashboard results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9585" y="2050852"/>
            <a:ext cx="106707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400" dirty="0">
                <a:solidFill>
                  <a:srgbClr val="69A1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01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09585" y="2551212"/>
            <a:ext cx="2666933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spc="-10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User controls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09585" y="3096359"/>
            <a:ext cx="2666933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Frequency, amplitude, noise, interference.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428914" y="2050852"/>
            <a:ext cx="114376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400" dirty="0">
                <a:solidFill>
                  <a:srgbClr val="69A1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02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428914" y="2551212"/>
            <a:ext cx="2590735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spc="-10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Signal generation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428914" y="3096359"/>
            <a:ext cx="2590735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Create digital samples.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172046" y="2050852"/>
            <a:ext cx="114376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400" dirty="0">
                <a:solidFill>
                  <a:srgbClr val="69A1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03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172046" y="2551212"/>
            <a:ext cx="2590735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spc="-10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Disturbance model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172046" y="3096359"/>
            <a:ext cx="2590735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Add noise and optional interference.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915177" y="2050852"/>
            <a:ext cx="116817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400" dirty="0">
                <a:solidFill>
                  <a:srgbClr val="69A1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04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915177" y="2551212"/>
            <a:ext cx="2666933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spc="-10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Received signal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915177" y="3096359"/>
            <a:ext cx="2666933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Combine the sample streams.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09585" y="3857327"/>
            <a:ext cx="114376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400" dirty="0">
                <a:solidFill>
                  <a:srgbClr val="69A1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05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09585" y="4357687"/>
            <a:ext cx="2666933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spc="-10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Measurements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09585" y="4902835"/>
            <a:ext cx="2666933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Calculate power and SNR.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428914" y="3857327"/>
            <a:ext cx="116817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400" dirty="0">
                <a:solidFill>
                  <a:srgbClr val="69A1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06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3428914" y="4357687"/>
            <a:ext cx="2590735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spc="-10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Classification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3428914" y="4902835"/>
            <a:ext cx="2590735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Apply transparent rules.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172046" y="3857327"/>
            <a:ext cx="111796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400" dirty="0">
                <a:solidFill>
                  <a:srgbClr val="69A1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07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172046" y="4357687"/>
            <a:ext cx="2590735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spc="-10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Visualization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172046" y="4902835"/>
            <a:ext cx="2590735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Waveform and optional spectrum.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915177" y="3857327"/>
            <a:ext cx="116817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400" dirty="0">
                <a:solidFill>
                  <a:srgbClr val="69A1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08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8915177" y="4357687"/>
            <a:ext cx="2666933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spc="-10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Dashboard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8915177" y="4902835"/>
            <a:ext cx="2666933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Refresh results and indicators.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09585" y="5793343"/>
            <a:ext cx="10972526" cy="462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b="1" spc="14" kern="100" dirty="0">
                <a:solidFill>
                  <a:srgbClr val="B9BEEA"/>
                </a:solidFill>
                <a:latin typeface="Lexend Bold" pitchFamily="34" charset="0"/>
                <a:ea typeface="Lexend Bold" pitchFamily="34" charset="-122"/>
                <a:cs typeface="Lexend Bold" pitchFamily="34" charset="-120"/>
              </a:rPr>
              <a:t>Suggested implementation:</a:t>
            </a:r>
            <a:pPr algn="l" indent="0" marL="0">
              <a:lnSpc>
                <a:spcPct val="108000"/>
              </a:lnSpc>
              <a:buNone/>
            </a:pPr>
            <a:r>
              <a:rPr lang="en-US" sz="1400" spc="14" kern="100" dirty="0">
                <a:solidFill>
                  <a:srgbClr val="B9BEEA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Base44 frontend · JavaScript simulation and calculations · compatible interactive charting library · optional FFT-based spectrum.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6745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78" kern="100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46375"/>
            <a:ext cx="10972526" cy="817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800" spc="-14" kern="100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Methodology converts discrete samples into interpretable signal quality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9585" y="2063551"/>
            <a:ext cx="5410065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spc="-10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Generate · Disturb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09585" y="2611557"/>
            <a:ext cx="5410065" cy="1234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Generate x[n] = A sin(2πfn/Fs), then add simulated random noise and optional sinusoidal interference.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172046" y="2063551"/>
            <a:ext cx="5410065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spc="-10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Combine · Measure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172046" y="2611557"/>
            <a:ext cx="5410065" cy="1234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Form y[n] = x[n] + n[n] + i[n]; calculate signal and noise power from generated samples.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09585" y="3999607"/>
            <a:ext cx="5410065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spc="-10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Quantify · Optional SINR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09585" y="4547612"/>
            <a:ext cx="5410065" cy="20573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Calculate SNR using the power ratio. Optional SINR: desired power divided by total unwanted disturbance power, with assumptions stated.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172046" y="3999607"/>
            <a:ext cx="5410065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spc="-10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Classify · Update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172046" y="4547612"/>
            <a:ext cx="5410065" cy="1645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Apply transparent rule-based thresholds to simulated conditions; refresh waveform graphs and measurements.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09585" y="6875423"/>
            <a:ext cx="11582110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spc="14" kern="100" dirty="0">
                <a:solidFill>
                  <a:srgbClr val="B9BEEA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FFT analysis can reveal dominant and additional frequency components when a correct FFT implementation is included.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6745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78" kern="100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PROPOSED DASHBOARD MOCKUP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46375"/>
            <a:ext cx="10972526" cy="817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800" spc="-14" kern="100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Interactive dashboard makes each disturbance visible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09585" y="2050852"/>
            <a:ext cx="3108843" cy="5067399"/>
          </a:xfrm>
          <a:prstGeom prst="roundRect">
            <a:avLst>
              <a:gd name="adj" fmla="val 4902"/>
            </a:avLst>
          </a:prstGeom>
          <a:solidFill>
            <a:srgbClr val="1E1F66"/>
          </a:solidFill>
          <a:ln w="19050">
            <a:solidFill>
              <a:srgbClr val="2878FF"/>
            </a:solidFill>
            <a:prstDash val="solid"/>
          </a:ln>
          <a:effectLst>
            <a:outerShdw sx="100000" sy="100000" kx="0" ky="0" algn="bl" rotWithShape="0" blurRad="201930" dist="127" dir="16200000">
              <a:srgbClr val="2878ff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57229" y="2315647"/>
            <a:ext cx="2861199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78" kern="100" dirty="0">
                <a:solidFill>
                  <a:srgbClr val="E6E9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CONTROLS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57229" y="2633067"/>
            <a:ext cx="2613555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spc="-10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Signal setup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57229" y="3178215"/>
            <a:ext cx="2861199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Amplitude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57229" y="3732213"/>
            <a:ext cx="2613555" cy="38100"/>
          </a:xfrm>
          <a:prstGeom prst="roundRect">
            <a:avLst>
              <a:gd name="adj" fmla="val 49999"/>
            </a:avLst>
          </a:prstGeom>
          <a:solidFill>
            <a:srgbClr val="3A3D8C"/>
          </a:solidFill>
          <a:ln/>
        </p:spPr>
      </p:sp>
      <p:sp>
        <p:nvSpPr>
          <p:cNvPr id="9" name="Text 7"/>
          <p:cNvSpPr/>
          <p:nvPr/>
        </p:nvSpPr>
        <p:spPr>
          <a:xfrm>
            <a:off x="857229" y="4032885"/>
            <a:ext cx="2861199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Frequency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57229" y="4586883"/>
            <a:ext cx="2613555" cy="38100"/>
          </a:xfrm>
          <a:prstGeom prst="roundRect">
            <a:avLst>
              <a:gd name="adj" fmla="val 49999"/>
            </a:avLst>
          </a:prstGeom>
          <a:solidFill>
            <a:srgbClr val="3A3D8C"/>
          </a:solidFill>
          <a:ln/>
        </p:spPr>
      </p:sp>
      <p:sp>
        <p:nvSpPr>
          <p:cNvPr id="11" name="Text 9"/>
          <p:cNvSpPr/>
          <p:nvPr/>
        </p:nvSpPr>
        <p:spPr>
          <a:xfrm>
            <a:off x="857229" y="4887555"/>
            <a:ext cx="2861199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Noise level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57229" y="5441553"/>
            <a:ext cx="2613555" cy="38100"/>
          </a:xfrm>
          <a:prstGeom prst="roundRect">
            <a:avLst>
              <a:gd name="adj" fmla="val 49999"/>
            </a:avLst>
          </a:prstGeom>
          <a:solidFill>
            <a:srgbClr val="3A3D8C"/>
          </a:solidFill>
          <a:ln/>
        </p:spPr>
      </p:sp>
      <p:sp>
        <p:nvSpPr>
          <p:cNvPr id="13" name="Text 11"/>
          <p:cNvSpPr/>
          <p:nvPr/>
        </p:nvSpPr>
        <p:spPr>
          <a:xfrm>
            <a:off x="857229" y="5742226"/>
            <a:ext cx="2861199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Interference: ON / OFF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023120" y="2050852"/>
            <a:ext cx="4145355" cy="5067399"/>
          </a:xfrm>
          <a:prstGeom prst="roundRect">
            <a:avLst>
              <a:gd name="adj" fmla="val 3676"/>
            </a:avLst>
          </a:prstGeom>
          <a:solidFill>
            <a:srgbClr val="1E1F66"/>
          </a:solidFill>
          <a:ln w="19050">
            <a:solidFill>
              <a:srgbClr val="2878FF"/>
            </a:solidFill>
            <a:prstDash val="solid"/>
          </a:ln>
          <a:effectLst>
            <a:outerShdw sx="100000" sy="100000" kx="0" ky="0" algn="bl" rotWithShape="0" blurRad="201930" dist="127" dir="16200000">
              <a:srgbClr val="2878ff">
                <a:alpha val="4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270764" y="2315647"/>
            <a:ext cx="3897711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78" kern="100" dirty="0">
                <a:solidFill>
                  <a:srgbClr val="E6E9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VIEWS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270764" y="2633067"/>
            <a:ext cx="3650067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spc="-10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Signal windows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270764" y="3169642"/>
            <a:ext cx="3515431" cy="475357"/>
          </a:xfrm>
          <a:prstGeom prst="roundRect">
            <a:avLst>
              <a:gd name="adj" fmla="val 21544"/>
            </a:avLst>
          </a:prstGeom>
          <a:noFill/>
          <a:ln w="12700">
            <a:solidFill>
              <a:srgbClr val="E6E9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53620" y="3261926"/>
            <a:ext cx="3714856" cy="292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spc="115" kern="100" dirty="0">
                <a:solidFill>
                  <a:srgbClr val="E6E9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ORIGINAL WAVEFORM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4270764" y="3797399"/>
            <a:ext cx="3515431" cy="475357"/>
          </a:xfrm>
          <a:prstGeom prst="roundRect">
            <a:avLst>
              <a:gd name="adj" fmla="val 21544"/>
            </a:avLst>
          </a:prstGeom>
          <a:noFill/>
          <a:ln w="12700">
            <a:solidFill>
              <a:srgbClr val="E6E9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53620" y="3889683"/>
            <a:ext cx="3714856" cy="292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spc="115" kern="100" dirty="0">
                <a:solidFill>
                  <a:srgbClr val="E6E9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RECEIVED WAVEFORM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4270764" y="4510246"/>
            <a:ext cx="3650067" cy="462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spc="14" kern="1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Optional frequency spectrum when FFT is implemented.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473168" y="2050852"/>
            <a:ext cx="3108942" cy="5067399"/>
          </a:xfrm>
          <a:prstGeom prst="roundRect">
            <a:avLst>
              <a:gd name="adj" fmla="val 4902"/>
            </a:avLst>
          </a:prstGeom>
          <a:solidFill>
            <a:srgbClr val="1E1F66"/>
          </a:solidFill>
          <a:ln w="19050">
            <a:solidFill>
              <a:srgbClr val="FF9347"/>
            </a:solidFill>
            <a:prstDash val="solid"/>
          </a:ln>
          <a:effectLst>
            <a:outerShdw sx="100000" sy="100000" kx="0" ky="0" algn="bl" rotWithShape="0" blurRad="201930" dist="127" dir="16200000">
              <a:srgbClr val="ff9347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720812" y="2315647"/>
            <a:ext cx="2861298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78" kern="100" dirty="0">
                <a:solidFill>
                  <a:srgbClr val="E6E9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INDICATORS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720812" y="2655477"/>
            <a:ext cx="2613654" cy="1042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800" spc="-38" kern="100" dirty="0">
                <a:solidFill>
                  <a:srgbClr val="FF9347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SNR · dB</a:t>
            </a:r>
            <a:endParaRPr lang="en-US" sz="3800" dirty="0"/>
          </a:p>
        </p:txBody>
      </p:sp>
      <p:sp>
        <p:nvSpPr>
          <p:cNvPr id="25" name="Text 23"/>
          <p:cNvSpPr/>
          <p:nvPr/>
        </p:nvSpPr>
        <p:spPr>
          <a:xfrm>
            <a:off x="8720812" y="3975814"/>
            <a:ext cx="2613654" cy="1234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Calculated from simulated samples.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8720812" y="5452765"/>
            <a:ext cx="862487" cy="57150"/>
          </a:xfrm>
          <a:prstGeom prst="roundRect">
            <a:avLst>
              <a:gd name="adj" fmla="val 49999"/>
            </a:avLst>
          </a:prstGeom>
          <a:solidFill>
            <a:srgbClr val="2878FF"/>
          </a:solidFill>
          <a:ln/>
        </p:spPr>
      </p:sp>
      <p:sp>
        <p:nvSpPr>
          <p:cNvPr id="27" name="Text 25"/>
          <p:cNvSpPr/>
          <p:nvPr/>
        </p:nvSpPr>
        <p:spPr>
          <a:xfrm>
            <a:off x="8720812" y="5871865"/>
            <a:ext cx="2613654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spc="-10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Signal-quality status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8720812" y="6417330"/>
            <a:ext cx="2613654" cy="462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spc="14" kern="1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Rule-based classification · TO BE VERIFIED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09585" y="7304941"/>
            <a:ext cx="10972526" cy="462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b="1" spc="14" kern="100" dirty="0">
                <a:solidFill>
                  <a:srgbClr val="B9BEEA"/>
                </a:solidFill>
                <a:latin typeface="Lexend Bold" pitchFamily="34" charset="0"/>
                <a:ea typeface="Lexend Bold" pitchFamily="34" charset="-122"/>
                <a:cs typeface="Lexend Bold" pitchFamily="34" charset="-120"/>
              </a:rPr>
              <a:t>Demonstration sequence:</a:t>
            </a:r>
            <a:pPr algn="l" indent="0" marL="0">
              <a:lnSpc>
                <a:spcPct val="108000"/>
              </a:lnSpc>
              <a:buNone/>
            </a:pPr>
            <a:r>
              <a:rPr lang="en-US" sz="1400" spc="14" kern="100" dirty="0">
                <a:solidFill>
                  <a:srgbClr val="B9BEEA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start clean, increase noise, observe SNR decrease at constant signal power, then enable interference and compare the measurements.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6745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78" kern="100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WHAT THIS ENABLES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46375"/>
            <a:ext cx="10972526" cy="817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800" spc="-14" kern="100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Expected outcomes support teaching today and deeper analysis later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09585" y="2050852"/>
            <a:ext cx="3454314" cy="9233098"/>
          </a:xfrm>
          <a:prstGeom prst="roundRect">
            <a:avLst>
              <a:gd name="adj" fmla="val 4412"/>
            </a:avLst>
          </a:prstGeom>
          <a:solidFill>
            <a:srgbClr val="1E1F66"/>
          </a:solidFill>
          <a:ln w="19050">
            <a:solidFill>
              <a:srgbClr val="2878FF"/>
            </a:solidFill>
            <a:prstDash val="solid"/>
          </a:ln>
          <a:effectLst>
            <a:outerShdw sx="100000" sy="100000" kx="0" ky="0" algn="bl" rotWithShape="0" blurRad="201930" dist="127" dir="16200000">
              <a:srgbClr val="2878ff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57229" y="2313742"/>
            <a:ext cx="2959026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spc="-12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Proposed outcomes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57229" y="2913757"/>
            <a:ext cx="2959026" cy="81225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487680" indent="-487680">
              <a:lnSpc>
                <a:spcPct val="113000"/>
              </a:lnSpc>
              <a:buSzPct val="100000"/>
              <a:buChar char="•"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Clear clean-versus-noisy waveform visualization.</a:t>
            </a:r>
            <a:endParaRPr lang="en-US" sz="2400" dirty="0"/>
          </a:p>
          <a:p>
            <a:pPr algn="l" marL="487680" indent="-487680">
              <a:lnSpc>
                <a:spcPct val="113000"/>
              </a:lnSpc>
              <a:buSzPct val="100000"/>
              <a:buChar char="•"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Automatic SNR calculation from simulated samples.</a:t>
            </a:r>
            <a:endParaRPr lang="en-US" sz="2400" dirty="0"/>
          </a:p>
          <a:p>
            <a:pPr algn="l" marL="487680" indent="-487680">
              <a:lnSpc>
                <a:spcPct val="113000"/>
              </a:lnSpc>
              <a:buSzPct val="100000"/>
              <a:buChar char="•"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Visible quality changes as noise increases.</a:t>
            </a:r>
            <a:endParaRPr lang="en-US" sz="2400" dirty="0"/>
          </a:p>
          <a:p>
            <a:pPr algn="l" marL="487680" indent="-487680">
              <a:lnSpc>
                <a:spcPct val="113000"/>
              </a:lnSpc>
              <a:buSzPct val="100000"/>
              <a:buChar char="•"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Comparison with and without interference.</a:t>
            </a:r>
            <a:endParaRPr lang="en-US" sz="2400" dirty="0"/>
          </a:p>
          <a:p>
            <a:pPr algn="l" marL="487680" indent="-487680">
              <a:lnSpc>
                <a:spcPct val="113000"/>
              </a:lnSpc>
              <a:buSzPct val="100000"/>
              <a:buChar char="•"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Optional spectrum view if FFT is implemented.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368691" y="2050852"/>
            <a:ext cx="3454314" cy="9233098"/>
          </a:xfrm>
          <a:prstGeom prst="roundRect">
            <a:avLst>
              <a:gd name="adj" fmla="val 4412"/>
            </a:avLst>
          </a:prstGeom>
          <a:solidFill>
            <a:srgbClr val="1E1F66"/>
          </a:solidFill>
          <a:ln w="19050">
            <a:solidFill>
              <a:srgbClr val="2878FF"/>
            </a:solidFill>
            <a:prstDash val="solid"/>
          </a:ln>
          <a:effectLst>
            <a:outerShdw sx="100000" sy="100000" kx="0" ky="0" algn="bl" rotWithShape="0" blurRad="201930" dist="127" dir="16200000">
              <a:srgbClr val="2878ff">
                <a:alpha val="4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16335" y="2313742"/>
            <a:ext cx="2959026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spc="-12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Applications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616335" y="2913757"/>
            <a:ext cx="2959026" cy="2824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spcAft>
                <a:spcPts val="1350"/>
              </a:spcAft>
              <a:buNone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DSP laboratory demonstrations.</a:t>
            </a:r>
            <a:endParaRPr lang="en-US" sz="2400" dirty="0"/>
          </a:p>
          <a:p>
            <a:pPr algn="l" indent="0" marL="0">
              <a:lnSpc>
                <a:spcPct val="113000"/>
              </a:lnSpc>
              <a:spcAft>
                <a:spcPts val="1350"/>
              </a:spcAft>
              <a:buNone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Communication-systems education.</a:t>
            </a:r>
            <a:endParaRPr lang="en-US" sz="240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Introductory signal analysis.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8127797" y="2050852"/>
            <a:ext cx="3454314" cy="9233098"/>
          </a:xfrm>
          <a:prstGeom prst="roundRect">
            <a:avLst>
              <a:gd name="adj" fmla="val 4412"/>
            </a:avLst>
          </a:prstGeom>
          <a:solidFill>
            <a:srgbClr val="1E1F66"/>
          </a:solidFill>
          <a:ln w="19050">
            <a:solidFill>
              <a:srgbClr val="FF9347"/>
            </a:solidFill>
            <a:prstDash val="solid"/>
          </a:ln>
          <a:effectLst>
            <a:outerShdw sx="100000" sy="100000" kx="0" ky="0" algn="bl" rotWithShape="0" blurRad="201930" dist="127" dir="16200000">
              <a:srgbClr val="ff9347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75440" y="2313742"/>
            <a:ext cx="2959026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spc="-12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Future scope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375440" y="2913757"/>
            <a:ext cx="2959026" cy="42924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spcAft>
                <a:spcPts val="1350"/>
              </a:spcAft>
              <a:buNone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Digital filtering · advanced modulation · real recorded signals · SDR integration.</a:t>
            </a:r>
            <a:endParaRPr lang="en-US" sz="240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Genuine machine-learning classification using a trained model and labeled data.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09585" y="11470640"/>
            <a:ext cx="10972526" cy="462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spc="14" kern="100" dirty="0">
                <a:solidFill>
                  <a:srgbClr val="B9BEEA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All outcomes are proposed until experimentally verified. Without a trained model, classification remains rule-based rather than AI-based.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02712" cy="9556254"/>
          </a:xfrm>
          <a:prstGeom prst="roundRect">
            <a:avLst>
              <a:gd name="adj" fmla="val 3542"/>
            </a:avLst>
          </a:prstGeom>
          <a:solidFill>
            <a:srgbClr val="1E1F66"/>
          </a:solidFill>
          <a:ln w="19050">
            <a:solidFill>
              <a:srgbClr val="2878FF"/>
            </a:solidFill>
            <a:prstDash val="solid"/>
          </a:ln>
          <a:effectLst>
            <a:outerShdw sx="100000" sy="100000" kx="0" ky="0" algn="bl" rotWithShape="0" blurRad="201930" dist="127" dir="16200000">
              <a:srgbClr val="2878ff">
                <a:alpha val="4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628634" y="1934448"/>
            <a:ext cx="3655028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78" kern="100" dirty="0">
                <a:solidFill>
                  <a:srgbClr val="E6E9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28634" y="2283684"/>
            <a:ext cx="3045443" cy="2523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600" spc="-46" kern="100" dirty="0">
                <a:solidFill>
                  <a:srgbClr val="E6E9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Make signal quality visible.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28634" y="5075952"/>
            <a:ext cx="3045443" cy="1234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Measure the change. Explain the cause.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28634" y="6578302"/>
            <a:ext cx="3045443" cy="1060549"/>
          </a:xfrm>
          <a:prstGeom prst="roundRect">
            <a:avLst>
              <a:gd name="adj" fmla="val 9656"/>
            </a:avLst>
          </a:prstGeom>
          <a:solidFill>
            <a:srgbClr val="001C4D"/>
          </a:solidFill>
          <a:ln/>
        </p:spPr>
      </p:sp>
      <p:sp>
        <p:nvSpPr>
          <p:cNvPr id="7" name="Text 5"/>
          <p:cNvSpPr/>
          <p:nvPr/>
        </p:nvSpPr>
        <p:spPr>
          <a:xfrm>
            <a:off x="811490" y="6670586"/>
            <a:ext cx="2679732" cy="8777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spc="115" kern="100" dirty="0">
                <a:solidFill>
                  <a:srgbClr val="E6E9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PROPOSED EDUCATIONAL SIMULATION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369386" y="624509"/>
            <a:ext cx="6212724" cy="408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800" spc="-14" kern="100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369386" y="1331535"/>
            <a:ext cx="1120549" cy="4937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Noise and interference affect communication signals in visible ways.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642331" y="1331535"/>
            <a:ext cx="1120648" cy="53489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Interactive simulation connects core ECE concepts with web-based learning.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915375" y="1331535"/>
            <a:ext cx="1120648" cy="45260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SNR calculations quantify the effect of noise on signal quality.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188419" y="1331535"/>
            <a:ext cx="1120648" cy="41146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Fourier analysis can add insight into frequency components.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0461463" y="1331535"/>
            <a:ext cx="1120549" cy="576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The dashboard can support DSP and communication-systems learning.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369386" y="7615218"/>
            <a:ext cx="6822309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78" kern="100" dirty="0">
                <a:solidFill>
                  <a:srgbClr val="FF9347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CLEAN WAVEFORM · NOISY WAVEFORM · SNR INDICATOR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69386" y="7935178"/>
            <a:ext cx="6212724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spc="-12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369386" y="8546624"/>
            <a:ext cx="6822309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Questions and Answers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2026-10-10T05:33:29Z</dcterms:created>
  <dcterms:modified xsi:type="dcterms:W3CDTF">2026-10-10T05:33:29Z</dcterms:modified>
</cp:coreProperties>
</file>